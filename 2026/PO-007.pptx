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461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harmasug.org/proceedings/2019/AD/PharmaSUG-2019-AD-211.pdf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hyperlink" Target="https://github.com/XianhuaZeng/PharmaSUG/tree/master/2026/DefinePageChecker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hyperlink" Target="http://www.xianhuazeng.com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docs.python.org/3/library/tk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6E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8700"/>
            <a:ext cx="12161520" cy="50292"/>
          </a:xfrm>
          <a:prstGeom prst="rect">
            <a:avLst/>
          </a:prstGeom>
          <a:solidFill>
            <a:srgbClr val="E07B2B"/>
          </a:solidFill>
          <a:ln w="12700">
            <a:solidFill>
              <a:srgbClr val="E07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948487" y="72620"/>
            <a:ext cx="84335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DefinePageChecker: A Python Tool for Verifying Page Number Hyperlinks in Define.xml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758952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A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Xianhua</a:t>
            </a:r>
            <a:r>
              <a:rPr lang="en-US" sz="950" dirty="0">
                <a:solidFill>
                  <a:srgbClr val="A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Zeng, Taimei Intelligence Pharmaceutical, Shanghai, China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5740" y="1229868"/>
            <a:ext cx="2875788" cy="5321808"/>
          </a:xfrm>
          <a:prstGeom prst="rect">
            <a:avLst/>
          </a:prstGeom>
          <a:solidFill>
            <a:srgbClr val="99BBDD">
              <a:alpha val="35000"/>
            </a:srgbClr>
          </a:solidFill>
          <a:ln w="12700">
            <a:solidFill>
              <a:srgbClr val="99BBDD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88720"/>
            <a:ext cx="2875788" cy="5321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88720"/>
            <a:ext cx="287578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645920"/>
            <a:ext cx="2875788" cy="36576"/>
          </a:xfrm>
          <a:prstGeom prst="rect">
            <a:avLst/>
          </a:prstGeom>
          <a:solidFill>
            <a:srgbClr val="2B5FAB"/>
          </a:solidFill>
          <a:ln w="12700">
            <a:solidFill>
              <a:srgbClr val="2B5F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261872"/>
            <a:ext cx="310896" cy="310896"/>
          </a:xfrm>
          <a:prstGeom prst="ellipse">
            <a:avLst/>
          </a:prstGeom>
          <a:solidFill>
            <a:srgbClr val="2B5FAB"/>
          </a:solidFill>
          <a:ln w="12700">
            <a:solidFill>
              <a:srgbClr val="2B5FA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28930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1261872"/>
            <a:ext cx="2345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92608" y="1737360"/>
            <a:ext cx="261975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define.xml file is a cornerstone of electronic submissions to regulatory agencies (FDA, EMA). It provides metadata about datasets, variables, and clinical trial elements, often including hyperlinks to specific pages in the aCRF.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page number hyperlinks in define.xml is critical for regulatory submissions. Issues include: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or incorrect hyperlinks compromise report integrity</a:t>
            </a:r>
            <a:endParaRPr lang="en-US" sz="115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is time-consuming and error-prone</a:t>
            </a:r>
            <a:endParaRPr lang="en-US" sz="115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annotation pages cause cross-referencing failures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DefinePageChecker — a Python tool that automates verification of page number hyperlinks in define.xml files, checking hyperlinks against aCRF pages and identifying missing annotation pages.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upon PharmaSUG 2019 methodologies for automated define.xml quality checks, enhanced with PyPDF2 for robust hyperlink validation.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91256" y="1229868"/>
            <a:ext cx="2875788" cy="5321808"/>
          </a:xfrm>
          <a:prstGeom prst="rect">
            <a:avLst/>
          </a:prstGeom>
          <a:solidFill>
            <a:srgbClr val="99BBDD">
              <a:alpha val="35000"/>
            </a:srgbClr>
          </a:solidFill>
          <a:ln w="12700">
            <a:solidFill>
              <a:srgbClr val="99BBDD">
                <a:alpha val="3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0108" y="1188720"/>
            <a:ext cx="2875788" cy="5321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8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50108" y="1188720"/>
            <a:ext cx="287578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50108" y="1645920"/>
            <a:ext cx="2875788" cy="36576"/>
          </a:xfrm>
          <a:prstGeom prst="rect">
            <a:avLst/>
          </a:prstGeom>
          <a:solidFill>
            <a:srgbClr val="E07B2B"/>
          </a:solidFill>
          <a:ln w="12700">
            <a:solidFill>
              <a:srgbClr val="E07B2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41548" y="1261872"/>
            <a:ext cx="310896" cy="310896"/>
          </a:xfrm>
          <a:prstGeom prst="ellipse">
            <a:avLst/>
          </a:prstGeom>
          <a:solidFill>
            <a:srgbClr val="E07B2B"/>
          </a:solidFill>
          <a:ln w="12700">
            <a:solidFill>
              <a:srgbClr val="E07B2B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24" y="1289304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25596" y="1261872"/>
            <a:ext cx="2345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278124" y="1737360"/>
            <a:ext cx="261975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&amp; Tkinter GUI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PyPDF2 library for hyperlink extraction and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 — lightweight and easy to deploy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two-step workflow: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— select define.xml and aCRF file path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— initiate automated verification process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updates in GUI with color-coded feedback: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hyperlink errors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— missing annotation notes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— progress &amp; completion messages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mode — for automated pipelines: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ourier New" pitchFamily="49" charset="0"/>
              </a:rPr>
              <a:t>check -d DIR</a:t>
            </a:r>
            <a:r>
              <a:rPr lang="en-US" sz="950" dirty="0">
                <a:solidFill>
                  <a:srgbClr val="1A2E4A"/>
                </a:solidFill>
                <a:latin typeface="Calibri" pitchFamily="34" charset="0"/>
              </a:rPr>
              <a:t> — auto-detect files from folder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ourier New" pitchFamily="49" charset="0"/>
              </a:rPr>
              <a:t>check --define FILE --acrf FILE</a:t>
            </a:r>
            <a:r>
              <a:rPr lang="en-US" sz="950" dirty="0">
                <a:solidFill>
                  <a:srgbClr val="1A2E4A"/>
                </a:solidFill>
                <a:latin typeface="Calibri" pitchFamily="34" charset="0"/>
              </a:rPr>
              <a:t> — specify files explicitly</a:t>
            </a:r>
            <a:endParaRPr lang="en-US" sz="1000" dirty="0"/>
          </a:p>
          <a:p>
            <a:pPr marL="685800" lvl="1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</a:rPr>
              <a:t>Exits 0 (clean) / 1 (issues) for CI/CD integration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76772" y="1229868"/>
            <a:ext cx="2875788" cy="5321808"/>
          </a:xfrm>
          <a:prstGeom prst="rect">
            <a:avLst/>
          </a:prstGeom>
          <a:solidFill>
            <a:srgbClr val="99BBDD">
              <a:alpha val="35000"/>
            </a:srgbClr>
          </a:solidFill>
          <a:ln w="12700">
            <a:solidFill>
              <a:srgbClr val="99BBDD">
                <a:alpha val="35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135624" y="1188720"/>
            <a:ext cx="2875788" cy="5321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8E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35624" y="1188720"/>
            <a:ext cx="287578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35624" y="1645920"/>
            <a:ext cx="2875788" cy="36576"/>
          </a:xfrm>
          <a:prstGeom prst="rect">
            <a:avLst/>
          </a:prstGeom>
          <a:solidFill>
            <a:srgbClr val="1E8A5C"/>
          </a:solidFill>
          <a:ln w="12700">
            <a:solidFill>
              <a:srgbClr val="1E8A5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227064" y="1261872"/>
            <a:ext cx="310896" cy="310896"/>
          </a:xfrm>
          <a:prstGeom prst="ellipse">
            <a:avLst/>
          </a:prstGeom>
          <a:solidFill>
            <a:srgbClr val="1E8A5C"/>
          </a:solidFill>
          <a:ln w="12700">
            <a:solidFill>
              <a:srgbClr val="1E8A5C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89304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11112" y="1261872"/>
            <a:ext cx="2345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Features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263640" y="1737360"/>
            <a:ext cx="26197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Functionalities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63640" y="2011680"/>
            <a:ext cx="2619756" cy="841248"/>
          </a:xfrm>
          <a:prstGeom prst="rect">
            <a:avLst/>
          </a:prstGeom>
          <a:solidFill>
            <a:srgbClr val="EEF5FC"/>
          </a:solidFill>
          <a:ln w="9525">
            <a:solidFill>
              <a:srgbClr val="BDD5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263640" y="2011680"/>
            <a:ext cx="45720" cy="841248"/>
          </a:xfrm>
          <a:prstGeom prst="rect">
            <a:avLst/>
          </a:prstGeom>
          <a:solidFill>
            <a:srgbClr val="1E8A5C"/>
          </a:solidFill>
          <a:ln w="12700">
            <a:solidFill>
              <a:srgbClr val="1E8A5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355080" y="2167128"/>
            <a:ext cx="274320" cy="274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5508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702552" y="2084832"/>
            <a:ext cx="21168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Verification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702552" y="2251020"/>
            <a:ext cx="21168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define.xml, extracts all hyperlinks, and validates them against the associated aCRF file automatically.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263640" y="2944368"/>
            <a:ext cx="2619756" cy="841248"/>
          </a:xfrm>
          <a:prstGeom prst="rect">
            <a:avLst/>
          </a:prstGeom>
          <a:solidFill>
            <a:srgbClr val="EEF5FC"/>
          </a:solidFill>
          <a:ln w="9525">
            <a:solidFill>
              <a:srgbClr val="BDD5E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263640" y="2944368"/>
            <a:ext cx="45720" cy="841248"/>
          </a:xfrm>
          <a:prstGeom prst="rect">
            <a:avLst/>
          </a:prstGeom>
          <a:solidFill>
            <a:srgbClr val="1E8A5C"/>
          </a:solidFill>
          <a:ln w="12700">
            <a:solidFill>
              <a:srgbClr val="1E8A5C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6355080" y="3099816"/>
            <a:ext cx="274320" cy="274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35508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6702552" y="3017520"/>
            <a:ext cx="21168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6702552" y="3183708"/>
            <a:ext cx="21168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Tkinter-based GUI allows users to input files and monitor real-time status updates with minimal effort.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263640" y="3877056"/>
            <a:ext cx="2619756" cy="841248"/>
          </a:xfrm>
          <a:prstGeom prst="rect">
            <a:avLst/>
          </a:prstGeom>
          <a:solidFill>
            <a:srgbClr val="EEF5FC"/>
          </a:solidFill>
          <a:ln w="9525">
            <a:solidFill>
              <a:srgbClr val="BDD5EE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6263640" y="3877056"/>
            <a:ext cx="45720" cy="841248"/>
          </a:xfrm>
          <a:prstGeom prst="rect">
            <a:avLst/>
          </a:prstGeom>
          <a:solidFill>
            <a:srgbClr val="1E8A5C"/>
          </a:solidFill>
          <a:ln w="12700">
            <a:solidFill>
              <a:srgbClr val="1E8A5C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355080" y="4032504"/>
            <a:ext cx="274320" cy="2743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355080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6702552" y="3950208"/>
            <a:ext cx="21168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702552" y="4116396"/>
            <a:ext cx="211683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color-coded status messages distinguish errors, notes, and progress within the same GUI window.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6263640" y="4855464"/>
            <a:ext cx="26197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51" name="Text 45"/>
          <p:cNvSpPr/>
          <p:nvPr/>
        </p:nvSpPr>
        <p:spPr>
          <a:xfrm>
            <a:off x="6263640" y="5041005"/>
            <a:ext cx="2619756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GUI feedback — errors &amp; progress in one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— supports multiple Windows versions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&amp; easy to deploy — no heavy dependencies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Browse &amp; Check workflow — no coding needed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mode — pipeline-friendly with exit codes 0/1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9162288" y="1229868"/>
            <a:ext cx="2875788" cy="5321808"/>
          </a:xfrm>
          <a:prstGeom prst="rect">
            <a:avLst/>
          </a:prstGeom>
          <a:solidFill>
            <a:srgbClr val="99BBDD">
              <a:alpha val="35000"/>
            </a:srgbClr>
          </a:solidFill>
          <a:ln w="12700">
            <a:solidFill>
              <a:srgbClr val="99BBDD">
                <a:alpha val="35000"/>
              </a:srgbClr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9121140" y="1188720"/>
            <a:ext cx="2875788" cy="5321808"/>
          </a:xfrm>
          <a:prstGeom prst="rect">
            <a:avLst/>
          </a:prstGeom>
          <a:solidFill>
            <a:srgbClr val="FAFCFF"/>
          </a:solidFill>
          <a:ln w="12700">
            <a:solidFill>
              <a:srgbClr val="C0D8EF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9121140" y="1188720"/>
            <a:ext cx="2875788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121140" y="1645920"/>
            <a:ext cx="2875788" cy="365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212580" y="1261872"/>
            <a:ext cx="310896" cy="310896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156" y="1289304"/>
            <a:ext cx="237744" cy="237744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9596628" y="1261872"/>
            <a:ext cx="2345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59" name="Text 52"/>
          <p:cNvSpPr/>
          <p:nvPr/>
        </p:nvSpPr>
        <p:spPr>
          <a:xfrm>
            <a:off x="9249156" y="1737360"/>
            <a:ext cx="261975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DefinePageChecker provides a reliable, automated solution for verifying page number hyperlinks in define.xml 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manual, error-prone verification — saving time in regulatory submission workflows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GUI makes it accessible to clinical trial professionals without programming skills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real-time output clearly distinguishes errors from informational notes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000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integrity and usability of define.xml for FDA/EMA submissions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9212580" y="4975759"/>
            <a:ext cx="2692908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9285732" y="5021479"/>
            <a:ext cx="25466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</a:t>
            </a:r>
            <a:r>
              <a:rPr lang="fr-FR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Source Code &amp; Test Files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https://github.com/XianhuaZeng/PharmaSUG/tree/master/2026/DefinePageChecker</a:t>
            </a:r>
            <a:endParaRPr lang="en-US" sz="1050" dirty="0"/>
          </a:p>
        </p:txBody>
      </p:sp>
      <p:sp>
        <p:nvSpPr>
          <p:cNvPr id="65" name="Shape 58"/>
          <p:cNvSpPr/>
          <p:nvPr/>
        </p:nvSpPr>
        <p:spPr>
          <a:xfrm>
            <a:off x="9212580" y="5725033"/>
            <a:ext cx="2692908" cy="658368"/>
          </a:xfrm>
          <a:prstGeom prst="rect">
            <a:avLst/>
          </a:prstGeom>
          <a:solidFill>
            <a:srgbClr val="F0F5FB"/>
          </a:solidFill>
          <a:ln w="9525">
            <a:solidFill>
              <a:srgbClr val="C0D8EF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9285732" y="5779897"/>
            <a:ext cx="25466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50" dirty="0"/>
          </a:p>
        </p:txBody>
      </p:sp>
      <p:sp>
        <p:nvSpPr>
          <p:cNvPr id="67" name="Text 60"/>
          <p:cNvSpPr/>
          <p:nvPr/>
        </p:nvSpPr>
        <p:spPr>
          <a:xfrm>
            <a:off x="9285732" y="5944489"/>
            <a:ext cx="2546604" cy="452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PharmaSUG 2019: 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Automating Quality Checks for define.xml Files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PharmaSUG-2019-AD-211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Lundh F. Tkinter. </a:t>
            </a: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file"/>
              </a:rPr>
              <a:t>docs.python.org/3/library/tk.html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274320" y="6601968"/>
            <a:ext cx="1161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PharmaSUG 2026  |  Paper PO-007  |  </a:t>
            </a:r>
            <a:r>
              <a:rPr lang="en-US" sz="800" dirty="0">
                <a:solidFill>
                  <a:srgbClr val="ADD8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www.xianhuazeng.com</a:t>
            </a:r>
            <a:endParaRPr lang="en-US" sz="800" dirty="0"/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6E60243C-FC00-B320-0EBC-245903677D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5389" y="3611879"/>
            <a:ext cx="1818949" cy="902787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411453CC-59D1-744F-50E3-2A8A7B70713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830" y="64486"/>
            <a:ext cx="1623058" cy="925144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64651039-B9F2-2E32-1AC5-F199DC7B0E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59693" y="73364"/>
            <a:ext cx="1435477" cy="876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516</Words>
  <Application>Microsoft Office PowerPoint</Application>
  <PresentationFormat>宽屏</PresentationFormat>
  <Paragraphs>64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Office Theme</vt:lpstr>
      <vt:lpstr>PowerPoint 演示文稿</vt:lpstr>
    </vt:vector>
  </TitlesOfParts>
  <Company>Taimei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PO_007 DefinePageChecker A Python Tool for Verifying Page Number Hyperlinks in define_Poster.pptx</dc:title>
  <dc:creator>Xianhua Zeng</dc:creator>
  <cp:lastModifiedBy>曾宪华</cp:lastModifiedBy>
  <cp:revision>9</cp:revision>
  <dcterms:created xsi:type="dcterms:W3CDTF">2026-03-27T16:22:18Z</dcterms:created>
  <dcterms:modified xsi:type="dcterms:W3CDTF">2026-04-07T11:29:07Z</dcterms:modified>
</cp:coreProperties>
</file>